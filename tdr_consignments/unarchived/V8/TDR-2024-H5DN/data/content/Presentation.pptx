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80" r:id="rId2"/>
    <p:sldId id="285" r:id="rId3"/>
    <p:sldId id="290" r:id="rId4"/>
    <p:sldId id="291" r:id="rId5"/>
    <p:sldId id="292" r:id="rId6"/>
    <p:sldId id="297" r:id="rId7"/>
    <p:sldId id="296" r:id="rId8"/>
    <p:sldId id="294" r:id="rId9"/>
    <p:sldId id="295" r:id="rId10"/>
    <p:sldId id="298" r:id="rId11"/>
    <p:sldId id="301" r:id="rId12"/>
    <p:sldId id="302" r:id="rId13"/>
    <p:sldId id="289" r:id="rId14"/>
  </p:sldIdLst>
  <p:sldSz cx="9144000" cy="6858000" type="screen4x3"/>
  <p:notesSz cx="6797675" cy="9928225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33"/>
    <a:srgbClr val="62BD19"/>
    <a:srgbClr val="FF7300"/>
    <a:srgbClr val="00529B"/>
    <a:srgbClr val="6A1A7A"/>
    <a:srgbClr val="C40098"/>
    <a:srgbClr val="007E3A"/>
    <a:srgbClr val="CD58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 autoAdjust="0"/>
    <p:restoredTop sz="85968" autoAdjust="0"/>
  </p:normalViewPr>
  <p:slideViewPr>
    <p:cSldViewPr snapToGrid="0">
      <p:cViewPr varScale="1">
        <p:scale>
          <a:sx n="63" d="100"/>
          <a:sy n="63" d="100"/>
        </p:scale>
        <p:origin x="-900" y="-102"/>
      </p:cViewPr>
      <p:guideLst>
        <p:guide orient="horz" pos="960"/>
        <p:guide pos="5424"/>
      </p:guideLst>
    </p:cSldViewPr>
  </p:slideViewPr>
  <p:outlineViewPr>
    <p:cViewPr>
      <p:scale>
        <a:sx n="33" d="100"/>
        <a:sy n="33" d="100"/>
      </p:scale>
      <p:origin x="210" y="7626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-1896" y="-78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0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0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08E77C35-5E29-4A89-9541-F4C6067106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99151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895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1700" y="762000"/>
            <a:ext cx="4978400" cy="3733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724400"/>
            <a:ext cx="49530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583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8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83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448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039637E9-D8CF-47AB-877C-8DA476378E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6508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Data needs</a:t>
            </a:r>
            <a:r>
              <a:rPr lang="en-GB" baseline="0" dirty="0" smtClean="0"/>
              <a:t> to be pre-structured in folder list once appraisal and selection is completed to facilitate cross comparison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9637E9-D8CF-47AB-877C-8DA476378E66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2697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357950" y="6298958"/>
            <a:ext cx="2520012" cy="392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109903-A8DF-4469-9EA5-3B7F9DDDB443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786" y="1051864"/>
            <a:ext cx="8643998" cy="4920596"/>
          </a:xfrm>
        </p:spPr>
        <p:txBody>
          <a:bodyPr/>
          <a:lstStyle>
            <a:lvl1pPr>
              <a:defRPr>
                <a:latin typeface="Calibri" pitchFamily="34" charset="0"/>
                <a:cs typeface="Arial" pitchFamily="34" charset="0"/>
              </a:defRPr>
            </a:lvl1pPr>
            <a:lvl2pPr>
              <a:defRPr>
                <a:latin typeface="Calibri" pitchFamily="34" charset="0"/>
                <a:cs typeface="Arial" pitchFamily="34" charset="0"/>
              </a:defRPr>
            </a:lvl2pPr>
            <a:lvl3pPr>
              <a:defRPr>
                <a:latin typeface="Calibri" pitchFamily="34" charset="0"/>
                <a:cs typeface="Arial" pitchFamily="34" charset="0"/>
              </a:defRPr>
            </a:lvl3pPr>
            <a:lvl4pPr>
              <a:defRPr>
                <a:latin typeface="Calibri" pitchFamily="34" charset="0"/>
                <a:cs typeface="Arial" pitchFamily="34" charset="0"/>
              </a:defRPr>
            </a:lvl4pPr>
            <a:lvl5pPr>
              <a:defRPr>
                <a:latin typeface="Calibri" pitchFamily="34" charset="0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109903-A8DF-4469-9EA5-3B7F9DDDB443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109903-A8DF-4469-9EA5-3B7F9DDDB443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060490"/>
            <a:ext cx="3986212" cy="47895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6886" y="1060490"/>
            <a:ext cx="3987800" cy="47895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109903-A8DF-4469-9EA5-3B7F9DDDB443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51864"/>
            <a:ext cx="4040188" cy="68289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744046"/>
            <a:ext cx="4040188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744046"/>
            <a:ext cx="4041775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40160" y="302980"/>
            <a:ext cx="8643998" cy="4857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0"/>
          </p:nvPr>
        </p:nvSpPr>
        <p:spPr>
          <a:xfrm>
            <a:off x="4643438" y="1051864"/>
            <a:ext cx="4040188" cy="68289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4109903-A8DF-4469-9EA5-3B7F9DDDB443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109903-A8DF-4469-9EA5-3B7F9DDDB443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109903-A8DF-4469-9EA5-3B7F9DDDB443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3008313" cy="71438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785794"/>
            <a:ext cx="5111750" cy="512605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500174"/>
            <a:ext cx="3008313" cy="4411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109903-A8DF-4469-9EA5-3B7F9DDDB443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55773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385770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GB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12446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109903-A8DF-4469-9EA5-3B7F9DDDB443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6107375"/>
            <a:ext cx="9144000" cy="71438"/>
          </a:xfrm>
          <a:prstGeom prst="rect">
            <a:avLst/>
          </a:prstGeom>
          <a:gradFill flip="none" rotWithShape="1">
            <a:gsLst>
              <a:gs pos="18000">
                <a:srgbClr val="CC3333"/>
              </a:gs>
              <a:gs pos="5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8786" y="302980"/>
            <a:ext cx="8643998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GB" dirty="0" smtClean="0"/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48786" y="1051864"/>
            <a:ext cx="8643998" cy="4920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 smtClean="0"/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6357950" y="6298958"/>
            <a:ext cx="2520012" cy="392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29716" y="6356350"/>
            <a:ext cx="5453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09903-A8DF-4469-9EA5-3B7F9DDDB443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Calibri" pitchFamily="34" charset="0"/>
          <a:ea typeface="+mj-ea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pitchFamily="34" charset="0"/>
          <a:ea typeface="+mn-ea"/>
          <a:cs typeface="Arial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SzPct val="90000"/>
        <a:buFont typeface="Courier New" pitchFamily="49" charset="0"/>
        <a:buChar char="o"/>
        <a:defRPr sz="2400">
          <a:solidFill>
            <a:schemeClr val="tx1"/>
          </a:solidFill>
          <a:latin typeface="Calibri" pitchFamily="34" charset="0"/>
          <a:cs typeface="Arial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pitchFamily="34" charset="0"/>
          <a:cs typeface="Arial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pitchFamily="34" charset="0"/>
          <a:cs typeface="Arial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pitchFamily="34" charset="0"/>
          <a:cs typeface="Arial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mailto:anthea.seles@nationalarchives.gis.gov.uk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13" descr="X:\Special Applications\Publications and Marketing\Marketing\Marketing &amp; Comms\Printed material\Departmental stuff\M&amp;C\Corporate brochure\Bentley Holland images\THE NATIONAL ARCHIVES copyright HUGH ALEXANDER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161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165894" y="3338507"/>
            <a:ext cx="4498975" cy="2476733"/>
          </a:xfrm>
          <a:prstGeom prst="rect">
            <a:avLst/>
          </a:prstGeom>
          <a:solidFill>
            <a:srgbClr val="D60077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2800">
              <a:latin typeface="Calibri" pitchFamily="34" charset="0"/>
            </a:endParaRPr>
          </a:p>
        </p:txBody>
      </p:sp>
      <p:sp>
        <p:nvSpPr>
          <p:cNvPr id="11" name="Rectangle 9"/>
          <p:cNvSpPr txBox="1">
            <a:spLocks noChangeArrowheads="1"/>
          </p:cNvSpPr>
          <p:nvPr/>
        </p:nvSpPr>
        <p:spPr bwMode="auto">
          <a:xfrm>
            <a:off x="344488" y="4838695"/>
            <a:ext cx="4191000" cy="897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ts val="2500"/>
              </a:lnSpc>
              <a:spcBef>
                <a:spcPct val="20000"/>
              </a:spcBef>
              <a:defRPr/>
            </a:pPr>
            <a:r>
              <a:rPr lang="en-GB" sz="1800" b="1" kern="0" dirty="0" smtClean="0">
                <a:solidFill>
                  <a:schemeClr val="bg1"/>
                </a:solidFill>
                <a:latin typeface="+mn-lt"/>
                <a:cs typeface="Arial" pitchFamily="34" charset="0"/>
              </a:rPr>
              <a:t>Anthea Seles</a:t>
            </a:r>
            <a:endParaRPr lang="en-GB" sz="1800" b="1" kern="0" dirty="0">
              <a:solidFill>
                <a:schemeClr val="bg1"/>
              </a:solidFill>
              <a:latin typeface="+mn-lt"/>
              <a:cs typeface="Arial" pitchFamily="34" charset="0"/>
            </a:endParaRPr>
          </a:p>
          <a:p>
            <a:pPr>
              <a:lnSpc>
                <a:spcPts val="2500"/>
              </a:lnSpc>
              <a:spcBef>
                <a:spcPct val="20000"/>
              </a:spcBef>
              <a:defRPr/>
            </a:pPr>
            <a:r>
              <a:rPr lang="en-GB" sz="1800" kern="0" dirty="0" smtClean="0">
                <a:solidFill>
                  <a:schemeClr val="bg1"/>
                </a:solidFill>
                <a:latin typeface="+mn-lt"/>
                <a:cs typeface="Arial" pitchFamily="34" charset="0"/>
              </a:rPr>
              <a:t>17 September 2014</a:t>
            </a:r>
            <a:endParaRPr lang="en-GB" sz="1800" kern="0" dirty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2" name="Rectangle 10"/>
          <p:cNvSpPr txBox="1">
            <a:spLocks noChangeArrowheads="1"/>
          </p:cNvSpPr>
          <p:nvPr/>
        </p:nvSpPr>
        <p:spPr bwMode="auto">
          <a:xfrm>
            <a:off x="344487" y="3363907"/>
            <a:ext cx="4320382" cy="904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lnSpc>
                <a:spcPts val="2600"/>
              </a:lnSpc>
              <a:defRPr/>
            </a:pPr>
            <a:r>
              <a:rPr lang="en-GB" sz="2000" b="1" kern="0" dirty="0" smtClean="0">
                <a:solidFill>
                  <a:schemeClr val="bg1"/>
                </a:solidFill>
                <a:latin typeface="+mj-lt"/>
                <a:ea typeface="+mj-ea"/>
                <a:cs typeface="Arial" pitchFamily="34" charset="0"/>
              </a:rPr>
              <a:t>Digital Transfer Process</a:t>
            </a:r>
            <a:endParaRPr lang="en-GB" sz="2000" b="1" kern="0" dirty="0">
              <a:solidFill>
                <a:schemeClr val="bg1"/>
              </a:solidFill>
              <a:latin typeface="+mj-lt"/>
              <a:ea typeface="+mj-ea"/>
              <a:cs typeface="Arial" pitchFamily="34" charset="0"/>
            </a:endParaRPr>
          </a:p>
        </p:txBody>
      </p:sp>
      <p:sp>
        <p:nvSpPr>
          <p:cNvPr id="5126" name="Rectangle 11"/>
          <p:cNvSpPr>
            <a:spLocks noChangeArrowheads="1"/>
          </p:cNvSpPr>
          <p:nvPr/>
        </p:nvSpPr>
        <p:spPr bwMode="auto">
          <a:xfrm>
            <a:off x="344488" y="4275132"/>
            <a:ext cx="4191000" cy="510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92075">
              <a:lnSpc>
                <a:spcPts val="2600"/>
              </a:lnSpc>
            </a:pPr>
            <a:r>
              <a:rPr lang="en-GB" sz="2000" dirty="0" smtClean="0">
                <a:solidFill>
                  <a:schemeClr val="bg1"/>
                </a:solidFill>
                <a:latin typeface="+mj-lt"/>
                <a:cs typeface="Arial" pitchFamily="34" charset="0"/>
              </a:rPr>
              <a:t>Digital Transfer User Group</a:t>
            </a:r>
            <a:endParaRPr lang="en-GB" sz="20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sz="3200" dirty="0" smtClean="0">
                <a:latin typeface="+mn-lt"/>
              </a:rPr>
              <a:t>Four (4) </a:t>
            </a:r>
            <a:r>
              <a:rPr lang="en-GB" sz="3200" smtClean="0">
                <a:latin typeface="+mn-lt"/>
              </a:rPr>
              <a:t>Separate </a:t>
            </a:r>
            <a:r>
              <a:rPr lang="en-GB" sz="3200" smtClean="0">
                <a:latin typeface="+mn-lt"/>
              </a:rPr>
              <a:t>Stages :</a:t>
            </a:r>
            <a:endParaRPr lang="en-GB" sz="3200" dirty="0" smtClean="0">
              <a:latin typeface="+mn-lt"/>
            </a:endParaRPr>
          </a:p>
          <a:p>
            <a:pPr lvl="1"/>
            <a:r>
              <a:rPr lang="en-GB" sz="3200" dirty="0" smtClean="0">
                <a:latin typeface="+mn-lt"/>
              </a:rPr>
              <a:t>Preparation for Transfer</a:t>
            </a:r>
          </a:p>
          <a:p>
            <a:pPr lvl="1"/>
            <a:r>
              <a:rPr lang="en-GB" sz="3200" dirty="0" smtClean="0">
                <a:latin typeface="+mn-lt"/>
              </a:rPr>
              <a:t>Metadata Generation and Validation</a:t>
            </a:r>
          </a:p>
          <a:p>
            <a:pPr lvl="1"/>
            <a:r>
              <a:rPr lang="en-GB" sz="3200" dirty="0" smtClean="0">
                <a:latin typeface="+mn-lt"/>
              </a:rPr>
              <a:t>Delivery of Transfer</a:t>
            </a:r>
          </a:p>
          <a:p>
            <a:pPr lvl="1"/>
            <a:r>
              <a:rPr lang="en-GB" sz="3200" dirty="0" smtClean="0">
                <a:latin typeface="+mn-lt"/>
              </a:rPr>
              <a:t>Handover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 smtClean="0">
                <a:latin typeface="+mj-lt"/>
              </a:rPr>
              <a:t>Digital Transfer Process</a:t>
            </a:r>
            <a:endParaRPr lang="en-GB" sz="4000" dirty="0">
              <a:latin typeface="+mj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9355" y="3294833"/>
            <a:ext cx="2977106" cy="24266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+mj-lt"/>
              </a:rPr>
              <a:t>PRE-TRANSFER REQUISITES</a:t>
            </a:r>
            <a:endParaRPr lang="en-GB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>
                <a:latin typeface="+mn-lt"/>
              </a:rPr>
              <a:t>Completed:</a:t>
            </a:r>
          </a:p>
          <a:p>
            <a:pPr lvl="1"/>
            <a:r>
              <a:rPr lang="en-GB" dirty="0" smtClean="0">
                <a:latin typeface="+mn-lt"/>
              </a:rPr>
              <a:t>Records Decision Panel (RDP)</a:t>
            </a:r>
          </a:p>
          <a:p>
            <a:pPr lvl="1"/>
            <a:r>
              <a:rPr lang="en-GB" dirty="0" smtClean="0">
                <a:latin typeface="+mn-lt"/>
              </a:rPr>
              <a:t>Lord Chancellor’s Advisory Council (LCAC)</a:t>
            </a:r>
          </a:p>
          <a:p>
            <a:r>
              <a:rPr lang="en-GB" dirty="0" smtClean="0">
                <a:latin typeface="+mn-lt"/>
              </a:rPr>
              <a:t>Agreement with TNA to include:</a:t>
            </a:r>
          </a:p>
          <a:p>
            <a:pPr lvl="1"/>
            <a:r>
              <a:rPr lang="en-GB" dirty="0" smtClean="0">
                <a:latin typeface="+mn-lt"/>
              </a:rPr>
              <a:t>Folder structure for transfer</a:t>
            </a:r>
          </a:p>
          <a:p>
            <a:pPr lvl="1"/>
            <a:r>
              <a:rPr lang="en-GB" dirty="0" smtClean="0">
                <a:latin typeface="+mn-lt"/>
              </a:rPr>
              <a:t>Simplified file list </a:t>
            </a:r>
          </a:p>
          <a:p>
            <a:pPr lvl="1"/>
            <a:r>
              <a:rPr lang="en-GB" dirty="0" smtClean="0">
                <a:latin typeface="+mn-lt"/>
              </a:rPr>
              <a:t>Method of transfer (i.e. HDD or SFTP)</a:t>
            </a:r>
          </a:p>
          <a:p>
            <a:pPr lvl="1"/>
            <a:r>
              <a:rPr lang="en-GB" dirty="0" smtClean="0">
                <a:latin typeface="+mn-lt"/>
              </a:rPr>
              <a:t>Encryption</a:t>
            </a:r>
          </a:p>
          <a:p>
            <a:pPr lvl="1"/>
            <a:r>
              <a:rPr lang="en-GB" dirty="0" smtClean="0">
                <a:latin typeface="+mn-lt"/>
              </a:rPr>
              <a:t>Metadata elements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109903-A8DF-4469-9EA5-3B7F9DDDB443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5337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+mn-lt"/>
              </a:rPr>
              <a:t>STEP 1: PREPARATION FOR TRANSFER</a:t>
            </a:r>
            <a:endParaRPr lang="en-GB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>
                <a:latin typeface="+mn-lt"/>
              </a:rPr>
              <a:t>All files need to be placed in the agreed folder structure based on the cataloguing information received from IMC.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109903-A8DF-4469-9EA5-3B7F9DDDB443}" type="slidenum">
              <a:rPr lang="en-GB" smtClean="0"/>
              <a:pPr/>
              <a:t>4</a:t>
            </a:fld>
            <a:endParaRPr lang="en-GB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7" y="2160270"/>
            <a:ext cx="8467725" cy="293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077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n-lt"/>
              </a:rPr>
              <a:t>STEP 1: PREPARATION FOR TRANSFER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>
                <a:latin typeface="+mn-lt"/>
              </a:rPr>
              <a:t>The folder structure will need to be exported from the preparation area in your systems to either SFTP or to HDD.</a:t>
            </a:r>
          </a:p>
          <a:p>
            <a:pPr lvl="1"/>
            <a:r>
              <a:rPr lang="en-GB" dirty="0" smtClean="0">
                <a:latin typeface="+mn-lt"/>
              </a:rPr>
              <a:t>Talk to IT to move records to minimise alterations</a:t>
            </a:r>
          </a:p>
          <a:p>
            <a:r>
              <a:rPr lang="en-GB" dirty="0" smtClean="0">
                <a:latin typeface="+mn-lt"/>
              </a:rPr>
              <a:t>HDD: Departments can use an encrypted TNA HDD or they may provide their own encrypted HDD. </a:t>
            </a:r>
          </a:p>
          <a:p>
            <a:pPr lvl="1"/>
            <a:r>
              <a:rPr lang="en-GB" dirty="0" smtClean="0">
                <a:latin typeface="+mn-lt"/>
              </a:rPr>
              <a:t>If providing encrypted HDD need to ensure that decryption information is provided once the HDD is transferred.</a:t>
            </a:r>
          </a:p>
          <a:p>
            <a:pPr lvl="1"/>
            <a:r>
              <a:rPr lang="en-GB" dirty="0" smtClean="0">
                <a:latin typeface="+mn-lt"/>
              </a:rPr>
              <a:t>For TNA encrypted drives we will provide the information for decryption and encryption</a:t>
            </a:r>
            <a:endParaRPr lang="en-GB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109903-A8DF-4469-9EA5-3B7F9DDDB443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157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986" y="501100"/>
            <a:ext cx="8643998" cy="485775"/>
          </a:xfrm>
        </p:spPr>
        <p:txBody>
          <a:bodyPr/>
          <a:lstStyle/>
          <a:p>
            <a:r>
              <a:rPr lang="en-GB" dirty="0">
                <a:latin typeface="+mn-lt"/>
              </a:rPr>
              <a:t>STEP 2: METADATA GENERATION AND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226" y="1356664"/>
            <a:ext cx="8643998" cy="4920596"/>
          </a:xfrm>
        </p:spPr>
        <p:txBody>
          <a:bodyPr/>
          <a:lstStyle/>
          <a:p>
            <a:r>
              <a:rPr lang="en-GB" dirty="0" smtClean="0">
                <a:latin typeface="+mj-lt"/>
              </a:rPr>
              <a:t>Once files are in the agreed folder structure you will generate a DROID report with checksum and closure information (Digital Transfer File List)</a:t>
            </a:r>
            <a:endParaRPr lang="en-GB" dirty="0" smtClean="0"/>
          </a:p>
          <a:p>
            <a:r>
              <a:rPr lang="en-GB" dirty="0" smtClean="0">
                <a:latin typeface="+mj-lt"/>
              </a:rPr>
              <a:t>Two types of metadata files need to exist:</a:t>
            </a:r>
          </a:p>
          <a:p>
            <a:pPr lvl="1"/>
            <a:r>
              <a:rPr lang="en-GB" dirty="0" smtClean="0">
                <a:latin typeface="+mj-lt"/>
              </a:rPr>
              <a:t>For the contents </a:t>
            </a:r>
          </a:p>
          <a:p>
            <a:pPr lvl="1"/>
            <a:r>
              <a:rPr lang="en-GB" dirty="0" smtClean="0">
                <a:latin typeface="+mj-lt"/>
              </a:rPr>
              <a:t>For the metadata folders</a:t>
            </a:r>
          </a:p>
          <a:p>
            <a:pPr lvl="1"/>
            <a:endParaRPr lang="en-GB" dirty="0" smtClean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109903-A8DF-4469-9EA5-3B7F9DDDB443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2732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" y="485860"/>
            <a:ext cx="8643998" cy="485775"/>
          </a:xfrm>
        </p:spPr>
        <p:txBody>
          <a:bodyPr/>
          <a:lstStyle/>
          <a:p>
            <a:r>
              <a:rPr lang="en-GB" dirty="0">
                <a:latin typeface="+mn-lt"/>
              </a:rPr>
              <a:t>STEP 2: METADATA GENERATION AND VALIDATION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109903-A8DF-4469-9EA5-3B7F9DDDB443}" type="slidenum">
              <a:rPr lang="en-GB" smtClean="0"/>
              <a:pPr/>
              <a:t>7</a:t>
            </a:fld>
            <a:endParaRPr lang="en-GB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" y="1249680"/>
            <a:ext cx="8900160" cy="4099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7647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786" y="470620"/>
            <a:ext cx="8643998" cy="485775"/>
          </a:xfrm>
        </p:spPr>
        <p:txBody>
          <a:bodyPr/>
          <a:lstStyle/>
          <a:p>
            <a:r>
              <a:rPr lang="en-GB" dirty="0">
                <a:latin typeface="+mn-lt"/>
              </a:rPr>
              <a:t>STEP 2: METADATA GENERATION AND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1968" y="1304330"/>
            <a:ext cx="3986212" cy="4789502"/>
          </a:xfrm>
        </p:spPr>
        <p:txBody>
          <a:bodyPr/>
          <a:lstStyle/>
          <a:p>
            <a:r>
              <a:rPr lang="en-GB" dirty="0">
                <a:latin typeface="+mn-lt"/>
              </a:rPr>
              <a:t>Metadata generated by DROID:</a:t>
            </a:r>
          </a:p>
          <a:p>
            <a:pPr lvl="1"/>
            <a:r>
              <a:rPr lang="en-GB" dirty="0">
                <a:latin typeface="+mn-lt"/>
              </a:rPr>
              <a:t>File name</a:t>
            </a:r>
          </a:p>
          <a:p>
            <a:pPr lvl="1"/>
            <a:r>
              <a:rPr lang="en-GB" dirty="0">
                <a:latin typeface="+mn-lt"/>
              </a:rPr>
              <a:t>File path (i.e. URI)</a:t>
            </a:r>
          </a:p>
          <a:p>
            <a:pPr lvl="1"/>
            <a:r>
              <a:rPr lang="en-GB" dirty="0">
                <a:latin typeface="+mn-lt"/>
              </a:rPr>
              <a:t>Date</a:t>
            </a:r>
          </a:p>
          <a:p>
            <a:pPr lvl="1"/>
            <a:r>
              <a:rPr lang="en-GB" dirty="0">
                <a:latin typeface="+mn-lt"/>
              </a:rPr>
              <a:t>File/Folder</a:t>
            </a:r>
          </a:p>
          <a:p>
            <a:pPr lvl="1"/>
            <a:r>
              <a:rPr lang="en-GB" dirty="0">
                <a:latin typeface="+mn-lt"/>
              </a:rPr>
              <a:t>checksum</a:t>
            </a:r>
          </a:p>
          <a:p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646" y="1334810"/>
            <a:ext cx="3987800" cy="4789502"/>
          </a:xfrm>
        </p:spPr>
        <p:txBody>
          <a:bodyPr/>
          <a:lstStyle/>
          <a:p>
            <a:r>
              <a:rPr lang="en-GB" dirty="0" smtClean="0">
                <a:latin typeface="+mn-lt"/>
              </a:rPr>
              <a:t>Metadata to be added:</a:t>
            </a:r>
          </a:p>
          <a:p>
            <a:pPr lvl="1"/>
            <a:r>
              <a:rPr lang="en-GB" dirty="0" smtClean="0">
                <a:latin typeface="+mn-lt"/>
              </a:rPr>
              <a:t>Copyright</a:t>
            </a:r>
          </a:p>
          <a:p>
            <a:pPr lvl="1"/>
            <a:r>
              <a:rPr lang="en-GB" dirty="0" smtClean="0">
                <a:latin typeface="+mn-lt"/>
              </a:rPr>
              <a:t>Closure status</a:t>
            </a:r>
          </a:p>
          <a:p>
            <a:pPr lvl="1"/>
            <a:r>
              <a:rPr lang="en-GB" dirty="0" smtClean="0">
                <a:latin typeface="+mn-lt"/>
              </a:rPr>
              <a:t>Closure start date</a:t>
            </a:r>
          </a:p>
          <a:p>
            <a:pPr lvl="1"/>
            <a:r>
              <a:rPr lang="en-GB" dirty="0" smtClean="0">
                <a:latin typeface="+mn-lt"/>
              </a:rPr>
              <a:t>FOI Exemptions</a:t>
            </a:r>
          </a:p>
          <a:p>
            <a:pPr lvl="1"/>
            <a:r>
              <a:rPr lang="en-GB" dirty="0" smtClean="0">
                <a:latin typeface="+mn-lt"/>
              </a:rPr>
              <a:t>FOI Decision Date</a:t>
            </a:r>
          </a:p>
          <a:p>
            <a:pPr lvl="1"/>
            <a:r>
              <a:rPr lang="en-GB" dirty="0" smtClean="0">
                <a:latin typeface="+mn-lt"/>
              </a:rPr>
              <a:t>Description (Open/closed)</a:t>
            </a:r>
          </a:p>
          <a:p>
            <a:pPr lvl="1"/>
            <a:r>
              <a:rPr lang="en-GB" dirty="0" smtClean="0">
                <a:latin typeface="+mn-lt"/>
              </a:rPr>
              <a:t>Alternate Description (if closed)</a:t>
            </a:r>
            <a:endParaRPr lang="en-GB" dirty="0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109903-A8DF-4469-9EA5-3B7F9DDDB443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8752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786" y="501100"/>
            <a:ext cx="8643998" cy="485775"/>
          </a:xfrm>
        </p:spPr>
        <p:txBody>
          <a:bodyPr/>
          <a:lstStyle/>
          <a:p>
            <a:r>
              <a:rPr lang="en-GB" dirty="0">
                <a:latin typeface="+mn-lt"/>
              </a:rPr>
              <a:t>STEP 2: METADATA GENERATION AND VALIDATION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109903-A8DF-4469-9EA5-3B7F9DDDB443}" type="slidenum">
              <a:rPr lang="en-GB" smtClean="0"/>
              <a:pPr/>
              <a:t>9</a:t>
            </a:fld>
            <a:endParaRPr lang="en-GB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" y="1417320"/>
            <a:ext cx="8427720" cy="4907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6552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001" y="470620"/>
            <a:ext cx="8643998" cy="485775"/>
          </a:xfrm>
        </p:spPr>
        <p:txBody>
          <a:bodyPr/>
          <a:lstStyle/>
          <a:p>
            <a:r>
              <a:rPr lang="en-GB" dirty="0">
                <a:latin typeface="+mn-lt"/>
              </a:rPr>
              <a:t>STEP 2: METADATA GENERATION AND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0544" y="1243370"/>
            <a:ext cx="8062912" cy="4789502"/>
          </a:xfrm>
        </p:spPr>
        <p:txBody>
          <a:bodyPr/>
          <a:lstStyle/>
          <a:p>
            <a:r>
              <a:rPr lang="en-GB" dirty="0" smtClean="0">
                <a:latin typeface="+mn-lt"/>
              </a:rPr>
              <a:t>Metadata will have to validated using the CSV Validator</a:t>
            </a:r>
          </a:p>
          <a:p>
            <a:pPr lvl="1"/>
            <a:r>
              <a:rPr lang="en-GB" dirty="0" smtClean="0">
                <a:latin typeface="+mn-lt"/>
              </a:rPr>
              <a:t>Pass/Fail report screen shot must be sent to Digital Transfer Team</a:t>
            </a:r>
          </a:p>
          <a:p>
            <a:r>
              <a:rPr lang="en-GB" dirty="0" smtClean="0">
                <a:latin typeface="+mn-lt"/>
              </a:rPr>
              <a:t>Once metadata is validated you will need to generate the checksum for the metadata file.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109903-A8DF-4469-9EA5-3B7F9DDDB443}" type="slidenum">
              <a:rPr lang="en-GB" smtClean="0"/>
              <a:pPr/>
              <a:t>10</a:t>
            </a:fld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091815"/>
            <a:ext cx="8496300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2993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060490"/>
            <a:ext cx="8230552" cy="4789502"/>
          </a:xfrm>
        </p:spPr>
        <p:txBody>
          <a:bodyPr/>
          <a:lstStyle/>
          <a:p>
            <a:r>
              <a:rPr lang="en-GB" dirty="0" smtClean="0">
                <a:latin typeface="+mn-lt"/>
              </a:rPr>
              <a:t>SFTP: We will agree a date to make space available along with transmission window.</a:t>
            </a:r>
          </a:p>
          <a:p>
            <a:pPr lvl="1"/>
            <a:r>
              <a:rPr lang="en-GB" dirty="0" smtClean="0">
                <a:latin typeface="+mn-lt"/>
              </a:rPr>
              <a:t>Confirmation that the transmission is complete from OGD</a:t>
            </a:r>
          </a:p>
          <a:p>
            <a:pPr lvl="1"/>
            <a:r>
              <a:rPr lang="en-GB" dirty="0" smtClean="0">
                <a:latin typeface="+mn-lt"/>
              </a:rPr>
              <a:t>Digital Transfer Team confirms receipt</a:t>
            </a:r>
          </a:p>
          <a:p>
            <a:r>
              <a:rPr lang="en-GB" dirty="0" smtClean="0">
                <a:latin typeface="+mn-lt"/>
              </a:rPr>
              <a:t>HDD: OGD will send HDD via a trusted courier service. TNA will expect to receive expected date and time of delivery.</a:t>
            </a:r>
          </a:p>
          <a:p>
            <a:pPr lvl="1"/>
            <a:r>
              <a:rPr lang="en-GB" dirty="0" smtClean="0">
                <a:latin typeface="+mn-lt"/>
              </a:rPr>
              <a:t>Receipt of delivery will be acknowledged by digital transfer team</a:t>
            </a:r>
          </a:p>
          <a:p>
            <a:pPr lvl="1"/>
            <a:r>
              <a:rPr lang="en-GB" dirty="0" smtClean="0">
                <a:latin typeface="+mn-lt"/>
              </a:rPr>
              <a:t>This does not mean that records can be deleted from systems, only after confirmation of ingest by Digital Preservation can this be done</a:t>
            </a:r>
          </a:p>
          <a:p>
            <a:r>
              <a:rPr lang="en-GB" dirty="0" smtClean="0">
                <a:latin typeface="+mn-lt"/>
              </a:rPr>
              <a:t>All transfers will need to be accompanied with a Digital Records Transfer Form</a:t>
            </a:r>
          </a:p>
          <a:p>
            <a:pPr marL="457200" lvl="1" indent="0">
              <a:buNone/>
            </a:pPr>
            <a:endParaRPr lang="en-GB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109903-A8DF-4469-9EA5-3B7F9DDDB443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n-lt"/>
              </a:rPr>
              <a:t>STEP </a:t>
            </a:r>
            <a:r>
              <a:rPr lang="en-GB" dirty="0" smtClean="0">
                <a:latin typeface="+mn-lt"/>
              </a:rPr>
              <a:t>3: DELIVERY OF TRANSFER</a:t>
            </a:r>
            <a:endParaRPr lang="en-GB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90617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+mn-lt"/>
              </a:rPr>
              <a:t>STEP 4: HANDOVER</a:t>
            </a:r>
            <a:endParaRPr lang="en-GB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060490"/>
            <a:ext cx="7361872" cy="4789502"/>
          </a:xfrm>
        </p:spPr>
        <p:txBody>
          <a:bodyPr/>
          <a:lstStyle/>
          <a:p>
            <a:r>
              <a:rPr lang="en-GB" dirty="0" smtClean="0">
                <a:latin typeface="+mn-lt"/>
              </a:rPr>
              <a:t>This is an internal procedure where Digital Transfer Team hands over control of the transfer (SFTP or HDD) to Digital Preservation</a:t>
            </a:r>
          </a:p>
          <a:p>
            <a:r>
              <a:rPr lang="en-GB" dirty="0" smtClean="0">
                <a:latin typeface="+mn-lt"/>
              </a:rPr>
              <a:t>Any errors that are detected after transfer will be forwarded to the Digital Transfer Team and OGDs will be contacted.</a:t>
            </a:r>
            <a:endParaRPr lang="en-GB" dirty="0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109903-A8DF-4469-9EA5-3B7F9DDDB443}" type="slidenum">
              <a:rPr lang="en-GB" smtClean="0"/>
              <a:pPr/>
              <a:t>12</a:t>
            </a:fld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520" y="3907536"/>
            <a:ext cx="4480560" cy="177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738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GB" dirty="0" smtClean="0">
                <a:latin typeface="+mn-lt"/>
              </a:rPr>
              <a:t>Any other questions can be directed to:</a:t>
            </a:r>
          </a:p>
          <a:p>
            <a:pPr algn="ctr"/>
            <a:r>
              <a:rPr lang="en-GB" dirty="0" smtClean="0">
                <a:latin typeface="+mn-lt"/>
              </a:rPr>
              <a:t>Anthea Seles, Digital Transfer Manager (</a:t>
            </a:r>
            <a:r>
              <a:rPr lang="en-GB" dirty="0" smtClean="0">
                <a:latin typeface="+mn-lt"/>
                <a:hlinkClick r:id="rId2"/>
              </a:rPr>
              <a:t>anthea.seles@nationalarchives.gis.gov.uk</a:t>
            </a:r>
            <a:r>
              <a:rPr lang="en-GB" dirty="0" smtClean="0">
                <a:latin typeface="+mn-lt"/>
              </a:rPr>
              <a:t>) </a:t>
            </a:r>
            <a:endParaRPr lang="en-GB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33669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322</TotalTime>
  <Words>543</Words>
  <Application>Microsoft Office PowerPoint</Application>
  <PresentationFormat>On-screen Show (4:3)</PresentationFormat>
  <Paragraphs>79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blank</vt:lpstr>
      <vt:lpstr>PowerPoint Presentation</vt:lpstr>
      <vt:lpstr>Digital Transfer Process</vt:lpstr>
      <vt:lpstr>PRE-TRANSFER REQUISITES</vt:lpstr>
      <vt:lpstr>STEP 1: PREPARATION FOR TRANSFER</vt:lpstr>
      <vt:lpstr>STEP 1: PREPARATION FOR TRANSFER</vt:lpstr>
      <vt:lpstr>STEP 2: METADATA GENERATION AND VALIDATION</vt:lpstr>
      <vt:lpstr>STEP 2: METADATA GENERATION AND VALIDATION</vt:lpstr>
      <vt:lpstr>STEP 2: METADATA GENERATION AND VALIDATION</vt:lpstr>
      <vt:lpstr>STEP 2: METADATA GENERATION AND VALIDATION</vt:lpstr>
      <vt:lpstr>STEP 2: METADATA GENERATION AND VALIDATION</vt:lpstr>
      <vt:lpstr>STEP 3: DELIVERY OF TRANSFER</vt:lpstr>
      <vt:lpstr>STEP 4: HANDOVER</vt:lpstr>
      <vt:lpstr>PowerPoint Presentation</vt:lpstr>
    </vt:vector>
  </TitlesOfParts>
  <Company>The National Archives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Seles, Anthea</dc:creator>
  <cp:lastModifiedBy>Seles, Anthea</cp:lastModifiedBy>
  <cp:revision>21</cp:revision>
  <dcterms:created xsi:type="dcterms:W3CDTF">2014-09-15T07:35:07Z</dcterms:created>
  <dcterms:modified xsi:type="dcterms:W3CDTF">2015-08-07T10:04:37Z</dcterms:modified>
</cp:coreProperties>
</file>